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18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45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ORDENAMIENTO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- Orden Ascendente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algoritmo, paso a paso, con prueba de escritorio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73352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73352" y="4297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673352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23744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23744" y="4297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523744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74136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74136" y="4297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374136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24528" y="40050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24528" y="4297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224528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I  -  UTN INSPT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</a:t>
            </a:r>
            <a:endParaRPr lang="en-US" sz="1300" dirty="0"/>
          </a:p>
          <a:p>
            <a:pPr marL="0" indent="0" algn="r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Ay. Prof. Juan Carlos Capia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ordenar un vector?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un vector es reorganizar sus elementos para que queden de menor a mayor (orden ascendente).</a:t>
            </a:r>
            <a:endParaRPr lang="en-US" sz="1600" dirty="0"/>
          </a:p>
          <a:p>
            <a:pPr marL="0" indent="0" algn="l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no usa un vector nuevo: compara elementos vecinos dentro del mismo vector y los intercambia (swap) cuando están en el orden incorrecto.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recorre el vector varias veces. En cada recorrido, el valor más grande pendiente “burbujea” hacia el final.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Desordenado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2194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7804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78040" y="2194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178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528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194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79552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252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2194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87325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0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09760" y="21945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95097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229600" y="3291840"/>
            <a:ext cx="457200" cy="457200"/>
          </a:xfrm>
          <a:prstGeom prst="ellipse">
            <a:avLst/>
          </a:prstGeom>
          <a:solidFill>
            <a:srgbClr val="E8651A"/>
          </a:solidFill>
          <a:ln w="12700">
            <a:solidFill>
              <a:srgbClr val="E8651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20"/>
          <p:cNvSpPr/>
          <p:nvPr/>
        </p:nvSpPr>
        <p:spPr>
          <a:xfrm>
            <a:off x="82296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0080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valor “sube” hacia el final en cada pasada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599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64008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4599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8"/>
          <p:cNvSpPr/>
          <p:nvPr/>
        </p:nvSpPr>
        <p:spPr>
          <a:xfrm>
            <a:off x="717804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955280" y="4599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795528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732520" y="4599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3252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873252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509760" y="4599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09760" y="4892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950976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ordenarBubbleSort_Asc()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126480" cy="4434840"/>
          </a:xfrm>
          <a:prstGeom prst="roundRect">
            <a:avLst>
              <a:gd name="adj" fmla="val 1237"/>
            </a:avLst>
          </a:prstGeom>
          <a:solidFill>
            <a:srgbClr val="1A2232"/>
          </a:solidFill>
          <a:ln w="12700">
            <a:solidFill>
              <a:srgbClr val="1A22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6692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ordenarBubbleSort_Asc(int x[], int tope)
{
    int i, cota = tope - 1, k = 1, aux;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(k)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        k = 0;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 = 0; i &lt; cota; i++)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(x[i] &gt; x[i + 1])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
                aux = x[i];
                x[i] = x[i + 1];
                x[i + 1] = aux;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k = i;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
        }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cota = k;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}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03720" y="1554480"/>
            <a:ext cx="4754880" cy="1325880"/>
          </a:xfrm>
          <a:prstGeom prst="roundRect">
            <a:avLst>
              <a:gd name="adj" fmla="val 482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7086600" y="1664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86600" y="19933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 de control. Mientras valga distinto de 0, indica que en la última pasada hubo al menos un intercambio. Cuando una pasada completa no intercambia nada, k queda en 0 y el while(k) termina.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3035808"/>
            <a:ext cx="4754880" cy="1325880"/>
          </a:xfrm>
          <a:prstGeom prst="roundRect">
            <a:avLst>
              <a:gd name="adj" fmla="val 482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7086600" y="3145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8660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hasta donde se compara en la siguiente pasada. Se actualiza con la última posición donde hubo swap: ya no hace falta revisar más allá, esa parte quedó ordenada.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03720" y="4517136"/>
            <a:ext cx="4754880" cy="1325880"/>
          </a:xfrm>
          <a:prstGeom prst="roundRect">
            <a:avLst>
              <a:gd name="adj" fmla="val 482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7086600" y="4626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49560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auxiliar para el intercambio (swap) de dos posiciones del vector.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escritorio: punto de partida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cargado por CargarVector()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947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2240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1947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2240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8346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1947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2240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9776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194767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24028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5120640" y="22402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19456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3840480"/>
            <a:ext cx="219456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2743200" y="3840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inicial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0" y="434340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274320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548640" y="4846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48463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2743200" y="4846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tope - 1 = 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0" y="534924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2743200" y="53492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(entra al while)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37033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recorrer este vector paso a paso, igual que lo haría el programa al ejecutarse.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cota se actualiza con la última posición de swap, vamos a necesitar menos pasadas que con un Bubble Sort clásico.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ESCRITORIO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1 - comparaciones con cota =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60520" cy="4343400"/>
          </a:xfrm>
          <a:prstGeom prst="roundRect">
            <a:avLst>
              <a:gd name="adj" fmla="val 1319"/>
            </a:avLst>
          </a:prstGeom>
          <a:solidFill>
            <a:srgbClr val="1A2232"/>
          </a:solidFill>
          <a:ln w="12700">
            <a:solidFill>
              <a:srgbClr val="1A22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703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(k)
{
    k = 0;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 = 0; i &lt; cota; i++)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(x[i] &gt; x[i + 1])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            aux = x[i];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x[i] = x[i + 1];
            x[i + 1] = aux;
            k = i;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    }
    cota = k;
}
</a:t>
            </a:r>
            <a:endParaRPr lang="en-US" sz="1300"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D2204684-984B-95A8-EADA-3E37750BE56D}"/>
              </a:ext>
            </a:extLst>
          </p:cNvPr>
          <p:cNvGrpSpPr/>
          <p:nvPr/>
        </p:nvGrpSpPr>
        <p:grpSpPr>
          <a:xfrm>
            <a:off x="5056632" y="3168396"/>
            <a:ext cx="6675120" cy="3227832"/>
            <a:chOff x="4983480" y="1554480"/>
            <a:chExt cx="6675120" cy="3227832"/>
          </a:xfrm>
        </p:grpSpPr>
        <p:sp>
          <p:nvSpPr>
            <p:cNvPr id="6" name="Shape 4"/>
            <p:cNvSpPr/>
            <p:nvPr/>
          </p:nvSpPr>
          <p:spPr>
            <a:xfrm>
              <a:off x="4983480" y="1554480"/>
              <a:ext cx="82296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 5"/>
            <p:cNvSpPr/>
            <p:nvPr/>
          </p:nvSpPr>
          <p:spPr>
            <a:xfrm>
              <a:off x="4983480" y="155448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endParaRPr lang="en-US" sz="13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5806440" y="1554480"/>
              <a:ext cx="192024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 7"/>
            <p:cNvSpPr/>
            <p:nvPr/>
          </p:nvSpPr>
          <p:spPr>
            <a:xfrm>
              <a:off x="5806440" y="155448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Comparación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726680" y="1554480"/>
              <a:ext cx="146304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 9"/>
            <p:cNvSpPr/>
            <p:nvPr/>
          </p:nvSpPr>
          <p:spPr>
            <a:xfrm>
              <a:off x="7726680" y="15544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¿Swap?</a:t>
              </a:r>
              <a:endParaRPr lang="en-US" sz="13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9189720" y="1554480"/>
              <a:ext cx="2468880" cy="457200"/>
            </a:xfrm>
            <a:prstGeom prst="rect">
              <a:avLst/>
            </a:prstGeom>
            <a:solidFill>
              <a:srgbClr val="1F3864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 11"/>
            <p:cNvSpPr/>
            <p:nvPr/>
          </p:nvSpPr>
          <p:spPr>
            <a:xfrm>
              <a:off x="9189720" y="155448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tras el paso</a:t>
              </a:r>
              <a:endParaRPr lang="en-US" sz="13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4983480" y="2011680"/>
              <a:ext cx="82296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Text 13"/>
            <p:cNvSpPr/>
            <p:nvPr/>
          </p:nvSpPr>
          <p:spPr>
            <a:xfrm>
              <a:off x="4983480" y="201168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</a:t>
              </a:r>
              <a:endParaRPr lang="en-US" sz="12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806440" y="2011680"/>
              <a:ext cx="19202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Text 15"/>
            <p:cNvSpPr/>
            <p:nvPr/>
          </p:nvSpPr>
          <p:spPr>
            <a:xfrm>
              <a:off x="5806440" y="201168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29 &gt; 8</a:t>
              </a:r>
              <a:endParaRPr lang="en-US" sz="12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726680" y="2011680"/>
              <a:ext cx="14630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Text 17"/>
            <p:cNvSpPr/>
            <p:nvPr/>
          </p:nvSpPr>
          <p:spPr>
            <a:xfrm>
              <a:off x="7726680" y="20116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E865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Sí</a:t>
              </a:r>
              <a:endParaRPr lang="en-US" sz="12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9189720" y="2011680"/>
              <a:ext cx="246888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Text 19"/>
            <p:cNvSpPr/>
            <p:nvPr/>
          </p:nvSpPr>
          <p:spPr>
            <a:xfrm>
              <a:off x="9189720" y="201168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8, 29, 47, 3, 15</a:t>
              </a:r>
              <a:endParaRPr lang="en-US" sz="12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983480" y="2468880"/>
              <a:ext cx="82296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Text 21"/>
            <p:cNvSpPr/>
            <p:nvPr/>
          </p:nvSpPr>
          <p:spPr>
            <a:xfrm>
              <a:off x="4983480" y="246888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125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806440" y="2468880"/>
              <a:ext cx="192024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Text 23"/>
            <p:cNvSpPr/>
            <p:nvPr/>
          </p:nvSpPr>
          <p:spPr>
            <a:xfrm>
              <a:off x="5806440" y="246888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29 &gt; 47</a:t>
              </a:r>
              <a:endParaRPr lang="en-US" sz="12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7726680" y="2468880"/>
              <a:ext cx="146304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Text 25"/>
            <p:cNvSpPr/>
            <p:nvPr/>
          </p:nvSpPr>
          <p:spPr>
            <a:xfrm>
              <a:off x="7726680" y="24688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</a:t>
              </a:r>
              <a:endParaRPr lang="en-US" sz="12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9189720" y="2468880"/>
              <a:ext cx="2468880" cy="4572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Text 27"/>
            <p:cNvSpPr/>
            <p:nvPr/>
          </p:nvSpPr>
          <p:spPr>
            <a:xfrm>
              <a:off x="9189720" y="246888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8, 29, 47, 3, 15</a:t>
              </a:r>
              <a:endParaRPr lang="en-US" sz="12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4983480" y="2926080"/>
              <a:ext cx="82296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Text 29"/>
            <p:cNvSpPr/>
            <p:nvPr/>
          </p:nvSpPr>
          <p:spPr>
            <a:xfrm>
              <a:off x="4983480" y="292608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125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806440" y="2926080"/>
              <a:ext cx="19202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Text 31"/>
            <p:cNvSpPr/>
            <p:nvPr/>
          </p:nvSpPr>
          <p:spPr>
            <a:xfrm>
              <a:off x="5806440" y="292608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47 &gt; 3</a:t>
              </a:r>
              <a:endParaRPr lang="en-US" sz="125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7726680" y="2926080"/>
              <a:ext cx="14630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Text 33"/>
            <p:cNvSpPr/>
            <p:nvPr/>
          </p:nvSpPr>
          <p:spPr>
            <a:xfrm>
              <a:off x="7726680" y="29260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E865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Sí</a:t>
              </a:r>
              <a:endParaRPr lang="en-US" sz="125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9189720" y="2926080"/>
              <a:ext cx="246888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Text 35"/>
            <p:cNvSpPr/>
            <p:nvPr/>
          </p:nvSpPr>
          <p:spPr>
            <a:xfrm>
              <a:off x="9189720" y="292608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8, 29, 3, 47, 15</a:t>
              </a:r>
              <a:endParaRPr lang="en-US" sz="12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4983480" y="3383280"/>
              <a:ext cx="82296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39" name="Text 37"/>
            <p:cNvSpPr/>
            <p:nvPr/>
          </p:nvSpPr>
          <p:spPr>
            <a:xfrm>
              <a:off x="4983480" y="3383280"/>
              <a:ext cx="822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125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5806440" y="3383280"/>
              <a:ext cx="19202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1" name="Text 39"/>
            <p:cNvSpPr/>
            <p:nvPr/>
          </p:nvSpPr>
          <p:spPr>
            <a:xfrm>
              <a:off x="5806440" y="3383280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47 &gt; 15</a:t>
              </a:r>
              <a:endParaRPr lang="en-US" sz="12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7726680" y="3383280"/>
              <a:ext cx="146304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3" name="Text 41"/>
            <p:cNvSpPr/>
            <p:nvPr/>
          </p:nvSpPr>
          <p:spPr>
            <a:xfrm>
              <a:off x="7726680" y="3383280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E865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Sí</a:t>
              </a:r>
              <a:endParaRPr lang="en-US" sz="125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9189720" y="3383280"/>
              <a:ext cx="2468880" cy="457200"/>
            </a:xfrm>
            <a:prstGeom prst="rect">
              <a:avLst/>
            </a:prstGeom>
            <a:solidFill>
              <a:srgbClr val="FFF1E8"/>
            </a:solidFill>
            <a:ln w="12700">
              <a:solidFill>
                <a:srgbClr val="D9D9D9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Text 43"/>
            <p:cNvSpPr/>
            <p:nvPr/>
          </p:nvSpPr>
          <p:spPr>
            <a:xfrm>
              <a:off x="9189720" y="3383280"/>
              <a:ext cx="24688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dirty="0">
                  <a:solidFill>
                    <a:srgbClr val="44464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8, 29, 3, 15, 47</a:t>
              </a:r>
              <a:endParaRPr lang="en-US" sz="125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983480" y="4005072"/>
              <a:ext cx="6675120" cy="777240"/>
            </a:xfrm>
            <a:prstGeom prst="roundRect">
              <a:avLst>
                <a:gd name="adj" fmla="val 8235"/>
              </a:avLst>
            </a:prstGeom>
            <a:solidFill>
              <a:srgbClr val="F2F2F2"/>
            </a:solidFill>
            <a:ln w="12700">
              <a:solidFill>
                <a:srgbClr val="F2F2F2"/>
              </a:solidFill>
              <a:prstDash val="solid"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Text 45"/>
            <p:cNvSpPr/>
            <p:nvPr/>
          </p:nvSpPr>
          <p:spPr>
            <a:xfrm>
              <a:off x="5166360" y="4078224"/>
              <a:ext cx="6309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3864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Fin del pase 1:  </a:t>
              </a:r>
              <a:r>
                <a:rPr lang="en-US" sz="1400" dirty="0">
                  <a:solidFill>
                    <a:srgbClr val="44464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k = 3   →   nueva cota = 3</a:t>
              </a:r>
              <a:endParaRPr lang="en-US" sz="14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5166360" y="4389120"/>
              <a:ext cx="6309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i="1" dirty="0">
                  <a:solidFill>
                    <a:srgbClr val="5B5E6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Hubo intercambios → k quedó distinto de 0 → el while continúa con un nuevo pase.</a:t>
              </a:r>
              <a:endParaRPr lang="en-US" sz="1250" dirty="0"/>
            </a:p>
          </p:txBody>
        </p:sp>
      </p:grpSp>
      <p:sp>
        <p:nvSpPr>
          <p:cNvPr id="49" name="Text 47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CC4BA314-B8C9-250D-ADC2-5833C3F7E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797" y="2042464"/>
            <a:ext cx="3448789" cy="835610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915A2D67-D461-6182-02F1-09AD13EBACA1}"/>
              </a:ext>
            </a:extLst>
          </p:cNvPr>
          <p:cNvSpPr txBox="1"/>
          <p:nvPr/>
        </p:nvSpPr>
        <p:spPr>
          <a:xfrm>
            <a:off x="7482842" y="1638276"/>
            <a:ext cx="2119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original</a:t>
            </a:r>
            <a:endParaRPr lang="es-A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ESCRITORIO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2 - comparaciones con cota =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60520" cy="4343400"/>
          </a:xfrm>
          <a:prstGeom prst="roundRect">
            <a:avLst>
              <a:gd name="adj" fmla="val 1319"/>
            </a:avLst>
          </a:prstGeom>
          <a:solidFill>
            <a:srgbClr val="1A2232"/>
          </a:solidFill>
          <a:ln w="12700">
            <a:solidFill>
              <a:srgbClr val="1A22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703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(k)
{
    k = 0;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 = 0; i &lt; cota; i++)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(x[i] &gt; x[i + 1])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            aux = x[i];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x[i] = x[i + 1];
            x[i + 1] = aux;
            k = i;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    }
    cota = k;
}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554480"/>
            <a:ext cx="8229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98348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554480"/>
            <a:ext cx="19202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8064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1554480"/>
            <a:ext cx="14630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7266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¿Swap?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tras el paso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011680"/>
            <a:ext cx="822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06440" y="20116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&gt; 29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89720" y="201168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1897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8, 29, 3, 15, 47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2468880"/>
            <a:ext cx="82296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98348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06440" y="2468880"/>
            <a:ext cx="19202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80644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&gt; 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2468880"/>
            <a:ext cx="14630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77266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8, 3, 29, 15, 47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83480" y="2926080"/>
            <a:ext cx="82296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498348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806440" y="2926080"/>
            <a:ext cx="19202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5806440" y="2926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&gt; 15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726680" y="2926080"/>
            <a:ext cx="14630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772668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189720" y="2926080"/>
            <a:ext cx="246888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918972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8, 3, 15, 29, 47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983480" y="3547872"/>
            <a:ext cx="6675120" cy="777240"/>
          </a:xfrm>
          <a:prstGeom prst="roundRect">
            <a:avLst>
              <a:gd name="adj" fmla="val 823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5166360" y="36210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del pase 2:  </a:t>
            </a:r>
            <a:r>
              <a:rPr lang="en-US" sz="1400" dirty="0">
                <a:solidFill>
                  <a:srgbClr val="444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2   →   nueva cota = 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166360" y="39319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Volvió a haber intercambios → el while continúa, pero con cota más chica: ya no se revisa la cola ordenada.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ESCRITORIO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Pase 3 - comparaciones con cota =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160520" cy="4343400"/>
          </a:xfrm>
          <a:prstGeom prst="roundRect">
            <a:avLst>
              <a:gd name="adj" fmla="val 1319"/>
            </a:avLst>
          </a:prstGeom>
          <a:solidFill>
            <a:srgbClr val="1A2232"/>
          </a:solidFill>
          <a:ln w="12700">
            <a:solidFill>
              <a:srgbClr val="1A22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703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(k)
{
    k = 0;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 = 0; i &lt; cota; i++)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(x[i] &gt; x[i + 1])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
            aux = x[i];
</a:t>
            </a:r>
            <a:r>
              <a:rPr lang="en-US" sz="1300" b="1" dirty="0">
                <a:solidFill>
                  <a:srgbClr val="FFC0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x[i] = x[i + 1];
            x[i + 1] = aux;
            k = i;
</a:t>
            </a:r>
            <a:r>
              <a:rPr lang="en-US" sz="1300" dirty="0">
                <a:solidFill>
                  <a:srgbClr val="D7D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
    }
    cota = k;
}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83480" y="1554480"/>
            <a:ext cx="82296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498348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554480"/>
            <a:ext cx="19202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5806440" y="1554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26680" y="1554480"/>
            <a:ext cx="146304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772668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¿Swap?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tras el paso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011680"/>
            <a:ext cx="82296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4983480" y="2011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806440" y="2011680"/>
            <a:ext cx="19202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58064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&gt; 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772668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89720" y="2011680"/>
            <a:ext cx="2468880" cy="457200"/>
          </a:xfrm>
          <a:prstGeom prst="rect">
            <a:avLst/>
          </a:prstGeom>
          <a:solidFill>
            <a:srgbClr val="FFF1E8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9189720" y="2011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3, 8, 15, 29, 47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2468880"/>
            <a:ext cx="822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4983480" y="2468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806440" y="24688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/>
          <p:nvPr/>
        </p:nvSpPr>
        <p:spPr>
          <a:xfrm>
            <a:off x="580644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&gt; 15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246888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772668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3, 8, 15, 29, 47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983480" y="3090672"/>
            <a:ext cx="6675120" cy="777240"/>
          </a:xfrm>
          <a:prstGeom prst="roundRect">
            <a:avLst>
              <a:gd name="adj" fmla="val 823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Text 29"/>
          <p:cNvSpPr/>
          <p:nvPr/>
        </p:nvSpPr>
        <p:spPr>
          <a:xfrm>
            <a:off x="5166360" y="31638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 del pase 3:  </a:t>
            </a:r>
            <a:r>
              <a:rPr lang="en-US" sz="1400" dirty="0">
                <a:solidFill>
                  <a:srgbClr val="4446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0   →   nueva cota = 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66360" y="3474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quedó en 0 → no hubo intercambios en este pase → while(k) se vuelve falso → el vector ya está ordenado.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ordenado en forma ascendente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81912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81912" y="22402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1581912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15184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15184" y="22402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/>
          <p:nvPr/>
        </p:nvSpPr>
        <p:spPr>
          <a:xfrm>
            <a:off x="2615184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8456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48456" y="22402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3648456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1947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224028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 w="1270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/>
          <p:nvPr/>
        </p:nvSpPr>
        <p:spPr>
          <a:xfrm>
            <a:off x="4681728" y="2240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 3 pases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078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70832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81912" y="4078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81912" y="4370832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1581912" y="4370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615184" y="4078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15184" y="4370832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2615184" y="4370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48456" y="4078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48456" y="4370832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3648456" y="4370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681728" y="40782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1728" y="4370832"/>
            <a:ext cx="868680" cy="868680"/>
          </a:xfrm>
          <a:prstGeom prst="roundRect">
            <a:avLst>
              <a:gd name="adj" fmla="val 842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4681728" y="4370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00800" y="16916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/>
          <p:nvPr/>
        </p:nvSpPr>
        <p:spPr>
          <a:xfrm>
            <a:off x="6675120" y="19202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 versión es más eficiente?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251460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Bubble Sort clásico recorrería siempre 4 pases completos (tope - 1), comparando posiciones que ya están ordenadas.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versión usa cota para no volver a comparar la parte final que ya quedó ordenada en pases anteriores.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bandera k corta el while en cuanto un pase completo no hizo ningún intercambio: ya no hace falta seguir.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ejemplo se resolvió en 3 pases en lugar de 4.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65760" y="6492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Ing. Alejandro Jorge Behringer   -   Ay. Prof. Juan Carlos Capia   |   Programación I - UTN INSPT   |   Comisión 1.605 - 2026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48872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4FD52A83EA6F42B24A8CC4AC0D895F" ma:contentTypeVersion="39" ma:contentTypeDescription="Crear nuevo documento." ma:contentTypeScope="" ma:versionID="a277f4450c5a03301467aa4020cda154">
  <xsd:schema xmlns:xsd="http://www.w3.org/2001/XMLSchema" xmlns:xs="http://www.w3.org/2001/XMLSchema" xmlns:p="http://schemas.microsoft.com/office/2006/metadata/properties" xmlns:ns3="fa31e3e4-dd04-430e-ab11-9f2e36e54c96" xmlns:ns4="dcd687b3-ff2a-4cef-8a8e-ae79212dfc5f" targetNamespace="http://schemas.microsoft.com/office/2006/metadata/properties" ma:root="true" ma:fieldsID="1ee6833715a99533d5fd6dc48745e310" ns3:_="" ns4:_="">
    <xsd:import namespace="fa31e3e4-dd04-430e-ab11-9f2e36e54c96"/>
    <xsd:import namespace="dcd687b3-ff2a-4cef-8a8e-ae79212dfc5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Templates" minOccurs="0"/>
                <xsd:element ref="ns4:CultureName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TeamsChannelId" minOccurs="0"/>
                <xsd:element ref="ns4:Math_Settings" minOccurs="0"/>
                <xsd:element ref="ns4:Distribution_Groups" minOccurs="0"/>
                <xsd:element ref="ns4:LMS_Mappings" minOccurs="0"/>
                <xsd:element ref="ns4:IsNotebookLocked" minOccurs="0"/>
                <xsd:element ref="ns4:MediaServiceAutoTags" minOccurs="0"/>
                <xsd:element ref="ns4:MediaServiceOCR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Teams_Channel_Section_Locatio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1e3e4-dd04-430e-ab11-9f2e36e54c9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687b3-ff2a-4cef-8a8e-ae79212dfc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NotebookType" ma:index="13" nillable="true" ma:displayName="Notebook Type" ma:internalName="NotebookType">
      <xsd:simpleType>
        <xsd:restriction base="dms:Text"/>
      </xsd:simpleType>
    </xsd:element>
    <xsd:element name="FolderType" ma:index="14" nillable="true" ma:displayName="Folder Type" ma:internalName="FolderType">
      <xsd:simpleType>
        <xsd:restriction base="dms:Text"/>
      </xsd:simpleType>
    </xsd:element>
    <xsd:element name="Owner" ma:index="1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7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8" nillable="true" ma:displayName="Culture Name" ma:internalName="CultureName">
      <xsd:simpleType>
        <xsd:restriction base="dms:Text"/>
      </xsd:simpleType>
    </xsd:element>
    <xsd:element name="AppVersion" ma:index="19" nillable="true" ma:displayName="App Version" ma:internalName="AppVersion">
      <xsd:simpleType>
        <xsd:restriction base="dms:Text"/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7" nillable="true" ma:displayName="Is Collaboration Space Locked" ma:internalName="Is_Collaboration_Space_Locked">
      <xsd:simpleType>
        <xsd:restriction base="dms:Boolean"/>
      </xsd:simpleType>
    </xsd:element>
    <xsd:element name="TeamsChannelId" ma:index="28" nillable="true" ma:displayName="Teams Channel Id" ma:internalName="TeamsChannelId">
      <xsd:simpleType>
        <xsd:restriction base="dms:Text"/>
      </xsd:simpleType>
    </xsd:element>
    <xsd:element name="Math_Settings" ma:index="29" nillable="true" ma:displayName="Math Settings" ma:internalName="Math_Settings">
      <xsd:simpleType>
        <xsd:restriction base="dms:Text"/>
      </xsd:simpleType>
    </xsd:element>
    <xsd:element name="Distribution_Groups" ma:index="3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1" nillable="true" ma:displayName="LMS Mappings" ma:internalName="LMS_Mappings">
      <xsd:simpleType>
        <xsd:restriction base="dms:Note">
          <xsd:maxLength value="255"/>
        </xsd:restriction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37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40" nillable="true" ma:displayName="Location" ma:internalName="MediaServiceLocation" ma:readOnly="true">
      <xsd:simpleType>
        <xsd:restriction base="dms:Text"/>
      </xsd:simpleType>
    </xsd:element>
    <xsd:element name="Teams_Channel_Section_Location" ma:index="41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_Channel_Section_Location xmlns="dcd687b3-ff2a-4cef-8a8e-ae79212dfc5f" xsi:nil="true"/>
    <Templates xmlns="dcd687b3-ff2a-4cef-8a8e-ae79212dfc5f" xsi:nil="true"/>
    <NotebookType xmlns="dcd687b3-ff2a-4cef-8a8e-ae79212dfc5f" xsi:nil="true"/>
    <CultureName xmlns="dcd687b3-ff2a-4cef-8a8e-ae79212dfc5f" xsi:nil="true"/>
    <TeamsChannelId xmlns="dcd687b3-ff2a-4cef-8a8e-ae79212dfc5f" xsi:nil="true"/>
    <_activity xmlns="dcd687b3-ff2a-4cef-8a8e-ae79212dfc5f" xsi:nil="true"/>
    <Owner xmlns="dcd687b3-ff2a-4cef-8a8e-ae79212dfc5f">
      <UserInfo>
        <DisplayName/>
        <AccountId xsi:nil="true"/>
        <AccountType/>
      </UserInfo>
    </Owner>
    <Students xmlns="dcd687b3-ff2a-4cef-8a8e-ae79212dfc5f">
      <UserInfo>
        <DisplayName/>
        <AccountId xsi:nil="true"/>
        <AccountType/>
      </UserInfo>
    </Students>
    <Student_Groups xmlns="dcd687b3-ff2a-4cef-8a8e-ae79212dfc5f">
      <UserInfo>
        <DisplayName/>
        <AccountId xsi:nil="true"/>
        <AccountType/>
      </UserInfo>
    </Student_Groups>
    <Distribution_Groups xmlns="dcd687b3-ff2a-4cef-8a8e-ae79212dfc5f" xsi:nil="true"/>
    <AppVersion xmlns="dcd687b3-ff2a-4cef-8a8e-ae79212dfc5f" xsi:nil="true"/>
    <Invited_Teachers xmlns="dcd687b3-ff2a-4cef-8a8e-ae79212dfc5f" xsi:nil="true"/>
    <LMS_Mappings xmlns="dcd687b3-ff2a-4cef-8a8e-ae79212dfc5f" xsi:nil="true"/>
    <IsNotebookLocked xmlns="dcd687b3-ff2a-4cef-8a8e-ae79212dfc5f" xsi:nil="true"/>
    <DefaultSectionNames xmlns="dcd687b3-ff2a-4cef-8a8e-ae79212dfc5f" xsi:nil="true"/>
    <Math_Settings xmlns="dcd687b3-ff2a-4cef-8a8e-ae79212dfc5f" xsi:nil="true"/>
    <Invited_Students xmlns="dcd687b3-ff2a-4cef-8a8e-ae79212dfc5f" xsi:nil="true"/>
    <Self_Registration_Enabled xmlns="dcd687b3-ff2a-4cef-8a8e-ae79212dfc5f" xsi:nil="true"/>
    <Has_Teacher_Only_SectionGroup xmlns="dcd687b3-ff2a-4cef-8a8e-ae79212dfc5f" xsi:nil="true"/>
    <FolderType xmlns="dcd687b3-ff2a-4cef-8a8e-ae79212dfc5f" xsi:nil="true"/>
    <Is_Collaboration_Space_Locked xmlns="dcd687b3-ff2a-4cef-8a8e-ae79212dfc5f" xsi:nil="true"/>
    <Teachers xmlns="dcd687b3-ff2a-4cef-8a8e-ae79212dfc5f">
      <UserInfo>
        <DisplayName/>
        <AccountId xsi:nil="true"/>
        <AccountType/>
      </UserInfo>
    </Teachers>
  </documentManagement>
</p:properties>
</file>

<file path=customXml/itemProps1.xml><?xml version="1.0" encoding="utf-8"?>
<ds:datastoreItem xmlns:ds="http://schemas.openxmlformats.org/officeDocument/2006/customXml" ds:itemID="{EC962391-EB4C-422C-B218-049AA28A2F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31e3e4-dd04-430e-ab11-9f2e36e54c96"/>
    <ds:schemaRef ds:uri="dcd687b3-ff2a-4cef-8a8e-ae79212dfc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D63D71-0B01-41C2-A304-F28CEAF490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FB4567-BA47-406B-A4B8-8DB944EC20D3}">
  <ds:schemaRefs>
    <ds:schemaRef ds:uri="dcd687b3-ff2a-4cef-8a8e-ae79212dfc5f"/>
    <ds:schemaRef ds:uri="http://purl.org/dc/dcmitype/"/>
    <ds:schemaRef ds:uri="http://purl.org/dc/terms/"/>
    <ds:schemaRef ds:uri="fa31e3e4-dd04-430e-ab11-9f2e36e54c96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1389</Words>
  <Application>Microsoft Office PowerPoint</Application>
  <PresentationFormat>Panorámica</PresentationFormat>
  <Paragraphs>192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Ordenamiento - Bubble Sort Ascendente</dc:title>
  <dc:subject>PptxGenJS Presentation</dc:subject>
  <dc:creator>Prof. Ing. Alejandro Jorge Behringer</dc:creator>
  <cp:lastModifiedBy>Alejandro Behringer</cp:lastModifiedBy>
  <cp:revision>2</cp:revision>
  <dcterms:created xsi:type="dcterms:W3CDTF">2026-06-23T19:39:41Z</dcterms:created>
  <dcterms:modified xsi:type="dcterms:W3CDTF">2026-06-23T22:08:32Z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0x010100674FD52A83EA6F42B24A8CC4AC0D895F</vt:lpwstr>
  </property>
</Properties>
</file>