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71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INSPT — Informática Aplicada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y Decremento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de asignación compuesta  ·  Números Aleatorios con rand() y srand()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64008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 ·  Comisión 1.605  ·  Clase 05  —  05/05/2026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Alejandro Jorge Behringer   |   Prof. Juan Capia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n++  --i  j+=5  i=n++  srand()  rand()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 de hoy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— UTN INSPT | Comisión 1.605 | 05/05/2026 | Ing. Behringer &amp; Prof. Capia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54864" cy="65836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0607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y posincremento / decremento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3441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 y -- antes o después: ¿cuándo hace la diferencia?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75564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320040" y="1755648"/>
            <a:ext cx="54864" cy="65836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11480" y="175564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18105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de asignación compuesta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0939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+= -= *= /= %=  — atajos que todo programador usa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0545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320040" y="2505456"/>
            <a:ext cx="54864" cy="65836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11480" y="25054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2560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paso a paso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8437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Trazamos la memoria juntos: posincrementos_ejemplo_01 al 04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25526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320040" y="3255264"/>
            <a:ext cx="54864" cy="65836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11480" y="325526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3101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aleatorios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35935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rand(), srand(), time(NULL) — simulaciones en 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00507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8" name="Shape 26"/>
          <p:cNvSpPr/>
          <p:nvPr/>
        </p:nvSpPr>
        <p:spPr>
          <a:xfrm>
            <a:off x="320040" y="4005072"/>
            <a:ext cx="54864" cy="65836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411480" y="40050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60120" y="40599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práctica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34340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Aplicamos todo lo visto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Pre vs Posincremento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importa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— UTN INSPT | Comisión 1.605 | 05/05/2026 | Ing. Behringer &amp; Prof. Capia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++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1430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320040" y="1143000"/>
            <a:ext cx="41148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1148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n++  →  POST-incremento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1572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valor actual,
luego 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variable.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167128"/>
            <a:ext cx="384048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548640" y="2258568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5;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n++;   </a:t>
            </a: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 recibe 5 (valor viejo)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 se convierte en 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printf("i=%d n=%d", i, n);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i=5  n=6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1430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4709160" y="1143000"/>
            <a:ext cx="411480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80060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++n  →  PRE-incremento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572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variable,
luego 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nuevo valor.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167128"/>
            <a:ext cx="384048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4937760" y="2258568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5;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++n;   </a:t>
            </a: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 se convierte en 6 primero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 recibe 6 (valor nuevo)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printf("i=%d n=%d", i, n);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i=6  n=6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para no confundirse nunca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 y --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— UTN INSPT | Comisión 1.605 | 05/05/2026 | Ing. Behringer &amp; Prof. Capia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229600" cy="2286000"/>
          </a:xfrm>
          <a:prstGeom prst="rect">
            <a:avLst/>
          </a:prstGeom>
          <a:solidFill>
            <a:srgbClr val="1E3A52"/>
          </a:solidFill>
          <a:ln w="254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 el operador?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1600200"/>
            <a:ext cx="347472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40080" y="1664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 delante  →  ANTES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0299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 PRIMERO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usa el valor nuevo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670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60520" y="1600200"/>
            <a:ext cx="822960" cy="146304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16052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0" y="1600200"/>
            <a:ext cx="347472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5029200" y="1664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 detrás  →  DESPUÉS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0299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valor actual PRIMERO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incrementa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670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n++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1E3A2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594360" y="349300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 n++ o ++n aparecen SOLOS (sin asignación), el resultado es idéntico — n vale n+1.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mismo aplica para  --n  y  n--  (decremento)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Trazamos juntos — Ejemplo 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posincrementos_ejemplo_02.c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— UTN INSPT | Comisión 1.605 | 05/05/2026 | Ing. Behringer &amp; Prof. Capia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 con j = i++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097280"/>
            <a:ext cx="393192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57200" y="118872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&lt;stdio.h&gt;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{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0, i = 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 = 5;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printf("j=%d\n", j);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printf("i=%d\n", i);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 = i++;  </a:t>
            </a: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← CLAVE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printf("j=%d\n", j);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printf("i=%d\n", i);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097280"/>
            <a:ext cx="4389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434840" y="11155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la memoria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1481328"/>
            <a:ext cx="640080" cy="438912"/>
          </a:xfrm>
          <a:prstGeom prst="rect">
            <a:avLst/>
          </a:prstGeom>
          <a:solidFill>
            <a:srgbClr val="1A2F45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462272" y="1481328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1481328"/>
            <a:ext cx="1005840" cy="438912"/>
          </a:xfrm>
          <a:prstGeom prst="rect">
            <a:avLst/>
          </a:prstGeom>
          <a:solidFill>
            <a:srgbClr val="1A2F45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5102352" y="1481328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481328"/>
            <a:ext cx="914400" cy="438912"/>
          </a:xfrm>
          <a:prstGeom prst="rect">
            <a:avLst/>
          </a:prstGeom>
          <a:solidFill>
            <a:srgbClr val="1A2F45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6108192" y="1481328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95160" y="1481328"/>
            <a:ext cx="1828800" cy="438912"/>
          </a:xfrm>
          <a:prstGeom prst="rect">
            <a:avLst/>
          </a:prstGeom>
          <a:solidFill>
            <a:srgbClr val="1A2F45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7022592" y="148132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1920240"/>
            <a:ext cx="640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462272" y="1920240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1920240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5102352" y="1920240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1920240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6108192" y="1920240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95160" y="1920240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7022592" y="192024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34840" y="2359152"/>
            <a:ext cx="640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4462272" y="2359152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74920" y="2359152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5102352" y="2359152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2359152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6108192" y="2359152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95160" y="2359152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7022592" y="235915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34840" y="2798064"/>
            <a:ext cx="640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4462272" y="279806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74920" y="2798064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5102352" y="2798064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2798064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4" name="Text 42"/>
          <p:cNvSpPr/>
          <p:nvPr/>
        </p:nvSpPr>
        <p:spPr>
          <a:xfrm>
            <a:off x="6108192" y="2798064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95160" y="2798064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6" name="Text 44"/>
          <p:cNvSpPr/>
          <p:nvPr/>
        </p:nvSpPr>
        <p:spPr>
          <a:xfrm>
            <a:off x="7022592" y="2798064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directa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34840" y="3236976"/>
            <a:ext cx="640080" cy="438912"/>
          </a:xfrm>
          <a:prstGeom prst="rect">
            <a:avLst/>
          </a:prstGeom>
          <a:solidFill>
            <a:srgbClr val="FFF9E7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4462272" y="3236976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i++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74920" y="3236976"/>
            <a:ext cx="1005840" cy="438912"/>
          </a:xfrm>
          <a:prstGeom prst="rect">
            <a:avLst/>
          </a:prstGeom>
          <a:solidFill>
            <a:srgbClr val="FFF9E7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0" name="Text 48"/>
          <p:cNvSpPr/>
          <p:nvPr/>
        </p:nvSpPr>
        <p:spPr>
          <a:xfrm>
            <a:off x="5102352" y="3236976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80760" y="3236976"/>
            <a:ext cx="914400" cy="438912"/>
          </a:xfrm>
          <a:prstGeom prst="rect">
            <a:avLst/>
          </a:prstGeom>
          <a:solidFill>
            <a:srgbClr val="FFF9E7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2" name="Text 50"/>
          <p:cNvSpPr/>
          <p:nvPr/>
        </p:nvSpPr>
        <p:spPr>
          <a:xfrm>
            <a:off x="6108192" y="3236976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95160" y="3236976"/>
            <a:ext cx="1828800" cy="438912"/>
          </a:xfrm>
          <a:prstGeom prst="rect">
            <a:avLst/>
          </a:prstGeom>
          <a:solidFill>
            <a:srgbClr val="FFF9E7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4" name="Text 52"/>
          <p:cNvSpPr/>
          <p:nvPr/>
        </p:nvSpPr>
        <p:spPr>
          <a:xfrm>
            <a:off x="7022592" y="3236976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recibe el valor ACTUAL de 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434840" y="3675888"/>
            <a:ext cx="640080" cy="438912"/>
          </a:xfrm>
          <a:prstGeom prst="rect">
            <a:avLst/>
          </a:prstGeom>
          <a:solidFill>
            <a:srgbClr val="FFF9E7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6" name="Text 54"/>
          <p:cNvSpPr/>
          <p:nvPr/>
        </p:nvSpPr>
        <p:spPr>
          <a:xfrm>
            <a:off x="4462272" y="3675888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i++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074920" y="3675888"/>
            <a:ext cx="1005840" cy="438912"/>
          </a:xfrm>
          <a:prstGeom prst="rect">
            <a:avLst/>
          </a:prstGeom>
          <a:solidFill>
            <a:srgbClr val="FFF9E7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8" name="Text 56"/>
          <p:cNvSpPr/>
          <p:nvPr/>
        </p:nvSpPr>
        <p:spPr>
          <a:xfrm>
            <a:off x="5102352" y="3675888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080760" y="3675888"/>
            <a:ext cx="914400" cy="438912"/>
          </a:xfrm>
          <a:prstGeom prst="rect">
            <a:avLst/>
          </a:prstGeom>
          <a:solidFill>
            <a:srgbClr val="FFF9E7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0" name="Text 58"/>
          <p:cNvSpPr/>
          <p:nvPr/>
        </p:nvSpPr>
        <p:spPr>
          <a:xfrm>
            <a:off x="6108192" y="3675888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995160" y="3675888"/>
            <a:ext cx="1828800" cy="438912"/>
          </a:xfrm>
          <a:prstGeom prst="rect">
            <a:avLst/>
          </a:prstGeom>
          <a:solidFill>
            <a:srgbClr val="FFF9E7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2" name="Text 60"/>
          <p:cNvSpPr/>
          <p:nvPr/>
        </p:nvSpPr>
        <p:spPr>
          <a:xfrm>
            <a:off x="7022592" y="367588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 incrementa DESPUÉS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434840" y="4224528"/>
            <a:ext cx="4389120" cy="23774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4" name="Text 62"/>
          <p:cNvSpPr/>
          <p:nvPr/>
        </p:nvSpPr>
        <p:spPr>
          <a:xfrm>
            <a:off x="4526280" y="424281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j=5  i=1  →  j=1  i=2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Trazamos juntos — Ejemplo 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posincrementos_ejemplo_01.c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— UTN INSPT | Comisión 1.605 | 05/05/2026 | Ing. Behringer &amp; Prof. Capia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completa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143000"/>
            <a:ext cx="850392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5; i =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printf("n++=%d\n", n++);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imprime 5, luego n=6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+= 1;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// n ahora 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n++;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// i=7, luego n=8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printf("--i=%d\n", --i);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--i: i=6, imprime 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++i;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// ++i: i=7, n=7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337560"/>
            <a:ext cx="850392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365760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3364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antes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0" y="3364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antes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después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después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666744"/>
            <a:ext cx="192024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347472" y="366674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5; i = 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40280" y="3666744"/>
            <a:ext cx="8229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2267712" y="366674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63240" y="3666744"/>
            <a:ext cx="8229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3090672" y="366674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86200" y="3666744"/>
            <a:ext cx="21945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3913632" y="366674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inicialización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80760" y="3666744"/>
            <a:ext cx="9144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6108192" y="366674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95160" y="3666744"/>
            <a:ext cx="9144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7022592" y="366674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849624"/>
            <a:ext cx="192024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347472" y="384962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printf(n++)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40280" y="3849624"/>
            <a:ext cx="82296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2267712" y="384962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063240" y="3849624"/>
            <a:ext cx="82296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3090672" y="384962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86200" y="3849624"/>
            <a:ext cx="219456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3913632" y="384962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 5, luego n++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80760" y="3849624"/>
            <a:ext cx="91440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6108192" y="384962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95160" y="3849624"/>
            <a:ext cx="91440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7022592" y="384962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4032504"/>
            <a:ext cx="192024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347472" y="403250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+= 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240280" y="4032504"/>
            <a:ext cx="8229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7" name="Text 45"/>
          <p:cNvSpPr/>
          <p:nvPr/>
        </p:nvSpPr>
        <p:spPr>
          <a:xfrm>
            <a:off x="2267712" y="403250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063240" y="4032504"/>
            <a:ext cx="8229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9" name="Text 47"/>
          <p:cNvSpPr/>
          <p:nvPr/>
        </p:nvSpPr>
        <p:spPr>
          <a:xfrm>
            <a:off x="3090672" y="403250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886200" y="4032504"/>
            <a:ext cx="21945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/>
          <p:nvPr/>
        </p:nvSpPr>
        <p:spPr>
          <a:xfrm>
            <a:off x="3913632" y="403250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 + 1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080760" y="4032504"/>
            <a:ext cx="9144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3" name="Text 51"/>
          <p:cNvSpPr/>
          <p:nvPr/>
        </p:nvSpPr>
        <p:spPr>
          <a:xfrm>
            <a:off x="6108192" y="403250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995160" y="4032504"/>
            <a:ext cx="9144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5" name="Text 53"/>
          <p:cNvSpPr/>
          <p:nvPr/>
        </p:nvSpPr>
        <p:spPr>
          <a:xfrm>
            <a:off x="7022592" y="403250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0040" y="4215384"/>
            <a:ext cx="192024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7" name="Text 55"/>
          <p:cNvSpPr/>
          <p:nvPr/>
        </p:nvSpPr>
        <p:spPr>
          <a:xfrm>
            <a:off x="347472" y="421538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n++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240280" y="4215384"/>
            <a:ext cx="82296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9" name="Text 57"/>
          <p:cNvSpPr/>
          <p:nvPr/>
        </p:nvSpPr>
        <p:spPr>
          <a:xfrm>
            <a:off x="2267712" y="42153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063240" y="4215384"/>
            <a:ext cx="82296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1" name="Text 59"/>
          <p:cNvSpPr/>
          <p:nvPr/>
        </p:nvSpPr>
        <p:spPr>
          <a:xfrm>
            <a:off x="3090672" y="42153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886200" y="4215384"/>
            <a:ext cx="219456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3" name="Text 61"/>
          <p:cNvSpPr/>
          <p:nvPr/>
        </p:nvSpPr>
        <p:spPr>
          <a:xfrm>
            <a:off x="3913632" y="421538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recibe 7, luego n++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080760" y="4215384"/>
            <a:ext cx="91440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5" name="Text 63"/>
          <p:cNvSpPr/>
          <p:nvPr/>
        </p:nvSpPr>
        <p:spPr>
          <a:xfrm>
            <a:off x="6108192" y="421538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995160" y="4215384"/>
            <a:ext cx="91440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7" name="Text 65"/>
          <p:cNvSpPr/>
          <p:nvPr/>
        </p:nvSpPr>
        <p:spPr>
          <a:xfrm>
            <a:off x="7022592" y="421538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20040" y="4398264"/>
            <a:ext cx="192024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9" name="Text 67"/>
          <p:cNvSpPr/>
          <p:nvPr/>
        </p:nvSpPr>
        <p:spPr>
          <a:xfrm>
            <a:off x="347472" y="439826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printf(--i)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240280" y="4398264"/>
            <a:ext cx="8229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1" name="Text 69"/>
          <p:cNvSpPr/>
          <p:nvPr/>
        </p:nvSpPr>
        <p:spPr>
          <a:xfrm>
            <a:off x="2267712" y="439826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063240" y="4398264"/>
            <a:ext cx="8229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3" name="Text 71"/>
          <p:cNvSpPr/>
          <p:nvPr/>
        </p:nvSpPr>
        <p:spPr>
          <a:xfrm>
            <a:off x="3090672" y="439826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886200" y="4398264"/>
            <a:ext cx="219456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5" name="Text 73"/>
          <p:cNvSpPr/>
          <p:nvPr/>
        </p:nvSpPr>
        <p:spPr>
          <a:xfrm>
            <a:off x="3913632" y="439826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--i (i=6), imprime 6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080760" y="4398264"/>
            <a:ext cx="9144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7" name="Text 75"/>
          <p:cNvSpPr/>
          <p:nvPr/>
        </p:nvSpPr>
        <p:spPr>
          <a:xfrm>
            <a:off x="6108192" y="439826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995160" y="4398264"/>
            <a:ext cx="9144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9" name="Text 77"/>
          <p:cNvSpPr/>
          <p:nvPr/>
        </p:nvSpPr>
        <p:spPr>
          <a:xfrm>
            <a:off x="7022592" y="439826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20040" y="4581144"/>
            <a:ext cx="192024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1" name="Text 79"/>
          <p:cNvSpPr/>
          <p:nvPr/>
        </p:nvSpPr>
        <p:spPr>
          <a:xfrm>
            <a:off x="347472" y="458114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++i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240280" y="4581144"/>
            <a:ext cx="82296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3" name="Text 81"/>
          <p:cNvSpPr/>
          <p:nvPr/>
        </p:nvSpPr>
        <p:spPr>
          <a:xfrm>
            <a:off x="2267712" y="458114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063240" y="4581144"/>
            <a:ext cx="82296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5" name="Text 83"/>
          <p:cNvSpPr/>
          <p:nvPr/>
        </p:nvSpPr>
        <p:spPr>
          <a:xfrm>
            <a:off x="3090672" y="458114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886200" y="4581144"/>
            <a:ext cx="219456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7" name="Text 85"/>
          <p:cNvSpPr/>
          <p:nvPr/>
        </p:nvSpPr>
        <p:spPr>
          <a:xfrm>
            <a:off x="3913632" y="458114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++i (i=7), luego n=7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080760" y="4581144"/>
            <a:ext cx="91440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9" name="Text 87"/>
          <p:cNvSpPr/>
          <p:nvPr/>
        </p:nvSpPr>
        <p:spPr>
          <a:xfrm>
            <a:off x="6108192" y="458114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995160" y="4581144"/>
            <a:ext cx="914400" cy="182880"/>
          </a:xfrm>
          <a:prstGeom prst="rect">
            <a:avLst/>
          </a:prstGeom>
          <a:solidFill>
            <a:srgbClr val="F0F4F8"/>
          </a:solidFill>
          <a:ln w="381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1" name="Text 89"/>
          <p:cNvSpPr/>
          <p:nvPr/>
        </p:nvSpPr>
        <p:spPr>
          <a:xfrm>
            <a:off x="7022592" y="458114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Operadores de asignación compuesta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+= -= *= /= %=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— UTN INSPT | Comisión 1.605 | 05/05/2026 | Ing. Behringer &amp; Prof. Capia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 que hacen el código más legible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143000"/>
            <a:ext cx="8503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365760" y="11704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completo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1170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1170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490472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365760" y="14904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08760" y="1490472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1554480" y="14904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n + 5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149047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297680" y="14904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+= 5;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149047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6583680" y="14904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y asigna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1965960"/>
            <a:ext cx="118872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365760" y="19659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-=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08760" y="1965960"/>
            <a:ext cx="274320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1554480" y="19659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n - 3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51960" y="1965960"/>
            <a:ext cx="228600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4297680" y="19659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-= 3;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1965960"/>
            <a:ext cx="228600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6583680" y="19659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 y asigna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2441448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365760" y="24414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08760" y="2441448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1554480" y="24414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n * 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51960" y="2441448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4297680" y="24414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*= 2;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37960" y="2441448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6583680" y="24414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 y asigna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2916936"/>
            <a:ext cx="118872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365760" y="29169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08760" y="2916936"/>
            <a:ext cx="274320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1554480" y="29169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n / 4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51960" y="2916936"/>
            <a:ext cx="228600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4297680" y="29169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/= 4;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37960" y="2916936"/>
            <a:ext cx="228600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7" name="Text 45"/>
          <p:cNvSpPr/>
          <p:nvPr/>
        </p:nvSpPr>
        <p:spPr>
          <a:xfrm>
            <a:off x="6583680" y="29169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y asigna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" y="3392424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9" name="Text 47"/>
          <p:cNvSpPr/>
          <p:nvPr/>
        </p:nvSpPr>
        <p:spPr>
          <a:xfrm>
            <a:off x="365760" y="339242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08760" y="3392424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/>
          <p:nvPr/>
        </p:nvSpPr>
        <p:spPr>
          <a:xfrm>
            <a:off x="1554480" y="339242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n % 10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251960" y="3392424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3" name="Text 51"/>
          <p:cNvSpPr/>
          <p:nvPr/>
        </p:nvSpPr>
        <p:spPr>
          <a:xfrm>
            <a:off x="4297680" y="33924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%= 10;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37960" y="3392424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5" name="Text 53"/>
          <p:cNvSpPr/>
          <p:nvPr/>
        </p:nvSpPr>
        <p:spPr>
          <a:xfrm>
            <a:off x="6583680" y="33924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y asigna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0040" y="3931920"/>
            <a:ext cx="85039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7" name="Text 55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Cuidado con /= cuando trabajamos con enteros: 7 /= 2 da 3 (división entera, descarta el resto).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pensar en el tipo de dato antes de usar /=.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compuestos — en práctica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05 —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— UTN INSPT | Comisión 1.605 | 05/05/2026 | Ing. Behringer &amp; Prof. Capia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con bucles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1115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Acumulador con +=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417320"/>
            <a:ext cx="4023360" cy="23774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57200" y="150876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 = 0, i;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= 1; i &lt;= 5; i++)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suma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suma = suma + 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printf("Suma = %d", suma);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Suma = 15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115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con *=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1417320"/>
            <a:ext cx="4023360" cy="23774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= 1;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= 0; i &lt; 4; i++)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valor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*=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printf("Valor = %d", valor);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Valor = 16  (2^4)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886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con post-incremento: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160520"/>
            <a:ext cx="850392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5;      n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1;   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mismo que n++, pero más explícito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10;    k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-=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3;   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 = 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Números aleatorios en 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rand() y srand()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— UTN INSPT | Comisión 1.605 | 05/05/2026 | Ing. Behringer &amp; Prof. Capia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1097280"/>
          </a:xfrm>
          <a:prstGeom prst="rect">
            <a:avLst/>
          </a:prstGeom>
          <a:solidFill>
            <a:srgbClr val="1E3A52"/>
          </a:solidFill>
          <a:ln w="1905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rand()?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rand() genera un número pseudoaleatorio entre 0 y RAND_MAX (típicamente 32767 o más).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incluye con  #include &lt;stdlib.h&gt;  —  RAND_MAX está definido ahí.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194560"/>
            <a:ext cx="2743200" cy="2331720"/>
          </a:xfrm>
          <a:prstGeom prst="rect">
            <a:avLst/>
          </a:prstGeom>
          <a:solidFill>
            <a:srgbClr val="0D214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2743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11480" y="22219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6243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000" noProof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 número entero entre 0 y RAND_MAX.</a:t>
            </a:r>
            <a:endParaRPr lang="es-AR" sz="1000" noProof="0" dirty="0"/>
          </a:p>
          <a:p>
            <a:pPr marL="0" indent="0">
              <a:buNone/>
            </a:pPr>
            <a:r>
              <a:rPr lang="es-AR" sz="1000" noProof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la misma secuencia si no se instalo la Semilla.</a:t>
            </a:r>
            <a:endParaRPr lang="es-AR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411480" y="3584448"/>
            <a:ext cx="256032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548640" y="36758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rand();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2194560"/>
            <a:ext cx="2743200" cy="2331720"/>
          </a:xfrm>
          <a:prstGeom prst="rect">
            <a:avLst/>
          </a:prstGeom>
          <a:solidFill>
            <a:srgbClr val="0A2010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3200400" y="2194560"/>
            <a:ext cx="27432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3291840" y="22219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srand(semilla)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26243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punto de inicio de la secuencia.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srand(time(NULL)) para que sea diferente cada vez.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584448"/>
            <a:ext cx="256032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3429000" y="36758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srand(time(NULL));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2194560"/>
            <a:ext cx="2743200" cy="2331720"/>
          </a:xfrm>
          <a:prstGeom prst="rect">
            <a:avLst/>
          </a:prstGeom>
          <a:solidFill>
            <a:srgbClr val="2A1000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6080760" y="2194560"/>
            <a:ext cx="2743200" cy="38404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6172200" y="22219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time(NULL)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26243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el tiempo Unix (segundos desde 1970).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con cada ejecución → semilla distinta.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3584448"/>
            <a:ext cx="256032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6309360" y="36758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&lt;time.h&gt;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626864"/>
            <a:ext cx="8503920" cy="256032"/>
          </a:xfrm>
          <a:prstGeom prst="rect">
            <a:avLst/>
          </a:prstGeom>
          <a:solidFill>
            <a:srgbClr val="111A26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457200" y="46542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Bibliotecas necesarias:   #include &lt;stdlib.h&gt;   para rand() y srand()   |   #include &lt;time.h&gt;   para time()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del ejemplo — Aleatorios.c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— UTN INSPT | Comisión 1.605 | 05/05/2026 | Ing. Behringer &amp; Prof. Capia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ejemplo base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115568"/>
            <a:ext cx="457200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57200" y="1207008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&lt;stdio.h&gt;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&lt;stdlib.h&gt;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&lt;time.h&gt;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srand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(NULL));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#ifdef _WIN32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"chcp 65001 &lt; nul"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#endif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printf("RAND_MAX = %d\n", 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RAND_MAX);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printf("Nro aleatorio: %d\n", rand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1115568"/>
            <a:ext cx="374904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5166360" y="1161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srand(time(NULL))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1417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reloj del sistema como semilla.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ejecutás, semilla diferente → números diferentes.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74920" y="2148840"/>
            <a:ext cx="374904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516636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RAND_MAX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2450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definida en stdlib.h.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Windows (MinGW): 32767.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Linux/Mac: 2147483647.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3154680"/>
            <a:ext cx="3749040" cy="1600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5166360" y="3200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para rango [min, max]: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74920" y="3493008"/>
            <a:ext cx="374904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5212080" y="358444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Entre min y max (inclusive)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(max - min +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 min;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Ejemplo: dado (1 al 6):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necesitamos srand()?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trampa del pseudoaleatorio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— UTN INSPT | Comisión 1.605 | 05/05/2026 | Ing. Behringer &amp; Prof. Capia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023360" cy="38404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11480" y="10424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srand()  —  siempre igual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4023360" cy="16916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57200" y="148132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sin srand()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printf("%d\n", rand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printf("%d\n", rand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printf("%d\n", rand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127248"/>
            <a:ext cx="4023360" cy="256032"/>
          </a:xfrm>
          <a:prstGeom prst="rect">
            <a:avLst/>
          </a:prstGeom>
          <a:solidFill>
            <a:srgbClr val="2A0A3A"/>
          </a:solidFill>
          <a:ln w="12700">
            <a:solidFill>
              <a:srgbClr val="2A0A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11480" y="31455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8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1: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383280"/>
            <a:ext cx="402336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18467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6334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0507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2: ¡los mismos números!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347972"/>
            <a:ext cx="402336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457200" y="4370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18467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6334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4023360" cy="3840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4892040" y="10424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 srand(time(NULL))  —  varía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1389888"/>
            <a:ext cx="4023360" cy="16916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4937760" y="148132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srand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(NULL));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printf("%d\n", rand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printf("%d\n", rand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printf("%d\n", rand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127248"/>
            <a:ext cx="4023360" cy="256032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892040" y="31455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1: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383280"/>
            <a:ext cx="402336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4937760" y="3474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29341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7893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21456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0507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2: ¡números distintos!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4279392"/>
            <a:ext cx="402336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4937760" y="4370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14782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30021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8934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rand() — Fórmula general y aplicaciones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05 —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— UTN INSPT | Comisión 1.605 | 05/05/2026 | Ing. Behringer &amp; Prof. Capia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Generando rangos útiles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143000"/>
            <a:ext cx="8503920" cy="777240"/>
          </a:xfrm>
          <a:prstGeom prst="rect">
            <a:avLst/>
          </a:prstGeom>
          <a:solidFill>
            <a:srgbClr val="0D1117"/>
          </a:solidFill>
          <a:ln w="254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168813" y="1193292"/>
            <a:ext cx="510657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(max - min + 1) + min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" y="205740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320040" y="2057400"/>
            <a:ext cx="54864" cy="84124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57200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(1 a 6)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384048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594360" y="2514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6 + 1;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05740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4617720" y="2057400"/>
            <a:ext cx="54864" cy="84124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4754880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 (0 o 1)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384048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4892040" y="2514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2;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990088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320040" y="2990088"/>
            <a:ext cx="54864" cy="84124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457200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(15°C a 35°C)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355848"/>
            <a:ext cx="384048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594360" y="34472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21 + 15;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2990088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4617720" y="2990088"/>
            <a:ext cx="54864" cy="84124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4754880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(1 a 10)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355848"/>
            <a:ext cx="384048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4892040" y="34472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10 + 1;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922776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4" name="Shape 32"/>
          <p:cNvSpPr/>
          <p:nvPr/>
        </p:nvSpPr>
        <p:spPr>
          <a:xfrm>
            <a:off x="320040" y="3922776"/>
            <a:ext cx="54864" cy="84124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457200" y="3968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(1 a 12)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288536"/>
            <a:ext cx="384048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594360" y="43799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12 + 1;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17720" y="3922776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9" name="Shape 37"/>
          <p:cNvSpPr/>
          <p:nvPr/>
        </p:nvSpPr>
        <p:spPr>
          <a:xfrm>
            <a:off x="4617720" y="3922776"/>
            <a:ext cx="54864" cy="84124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4754880" y="3968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(0 a 99) — porcentaje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4288536"/>
            <a:ext cx="384048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4892040" y="43799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100;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67B73719-232D-5549-8599-379020894E65}"/>
                  </a:ext>
                </a:extLst>
              </p:cNvPr>
              <p:cNvSpPr txBox="1"/>
              <p:nvPr/>
            </p:nvSpPr>
            <p:spPr>
              <a:xfrm>
                <a:off x="5211376" y="1296216"/>
                <a:ext cx="33839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AR" sz="1200" dirty="0">
                    <a:solidFill>
                      <a:srgbClr val="FFFF00"/>
                    </a:solidFill>
                    <a:effectLst/>
                  </a:rPr>
                  <a:t>el módulo </a:t>
                </a:r>
                <a:r>
                  <a:rPr lang="es-AR" sz="1200" b="1" dirty="0">
                    <a:solidFill>
                      <a:srgbClr val="FFFF00"/>
                    </a:solidFill>
                    <a:effectLst/>
                  </a:rPr>
                  <a:t>reduce</a:t>
                </a:r>
                <a:r>
                  <a:rPr lang="es-AR" sz="1200" dirty="0">
                    <a:solidFill>
                      <a:srgbClr val="FFFF00"/>
                    </a:solidFill>
                    <a:effectLst/>
                  </a:rPr>
                  <a:t> cualquier número a un rango fijo:</a:t>
                </a:r>
                <a:endParaRPr lang="es-AR" sz="1200" dirty="0">
                  <a:solidFill>
                    <a:srgbClr val="FFFF00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2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s-AR" sz="12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ar-AE" sz="12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ar-AE" sz="1200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  </m:t>
                          </m:r>
                          <m:r>
                            <a:rPr lang="ar-AE" sz="1200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ar-AE" sz="1200" b="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1200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ar-AE" sz="1200" b="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200" b="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1200" b="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67B73719-232D-5549-8599-379020894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376" y="1296216"/>
                <a:ext cx="3383984" cy="461665"/>
              </a:xfrm>
              <a:prstGeom prst="rect">
                <a:avLst/>
              </a:prstGeom>
              <a:blipFill>
                <a:blip r:embed="rId3"/>
                <a:stretch>
                  <a:fillRect l="-180" t="-1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Ejercicios de práctica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05 — 05/05/2026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— UTN INSPT | Comisión 1.605 | 05/05/2026 | Ing. Behringer &amp; Prof. Capia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Ponemos en práctica lo visto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143000"/>
            <a:ext cx="4251960" cy="181051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320040" y="1143000"/>
            <a:ext cx="425196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11480" y="11795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1795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1572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en papel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1856232"/>
            <a:ext cx="4023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n = 3 e i = 0, calculá en papel el resultado de: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a) i = n++   b) i = ++n   c) n += 5   d) n *= 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vale n y cuánto vale i en cada caso?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7448" y="1143000"/>
            <a:ext cx="4251960" cy="181051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4727448" y="1143000"/>
            <a:ext cx="42519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818888" y="11795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44968" y="11795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8888" y="1572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dado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1856232"/>
            <a:ext cx="4023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 un programa que simule 5 tiradas de un dado de 6 caras.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Mostrá cada resultado con printf. Usá srand(time(NULL)).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Contá cuántas veces salió un número mayor a 3.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044952"/>
            <a:ext cx="4251960" cy="181051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320040" y="3044952"/>
            <a:ext cx="425196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411480" y="3081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7560" y="30815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474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Acumulador con operadores compuestos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758184"/>
            <a:ext cx="4023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Pedí al usuario 5 números enteros.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Calculá la suma usando +=  y el producto usando *=.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Mostrá ambos resultados.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27448" y="3044952"/>
            <a:ext cx="4251960" cy="1810512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4727448" y="3044952"/>
            <a:ext cx="4251960" cy="38404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4818888" y="3081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44968" y="30815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Desafiante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3474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aleatoria (desafío)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18888" y="3758184"/>
            <a:ext cx="4023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Generá 10 temperaturas aleatorias entre -10°C y 40°C.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 el máximo, el mínimo y el promedio.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Usá un solo bucle for. Aplicá operadores += para acumular.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— Lo que aprendimos hoy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— UTN INSPT | Comisión 1.605 | 05/05/2026 | Ing. Behringer &amp; Prof. Capia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8503920" cy="658368"/>
          </a:xfrm>
          <a:prstGeom prst="rect">
            <a:avLst/>
          </a:prstGeom>
          <a:solidFill>
            <a:srgbClr val="1E3A52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777240" cy="65836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06984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y preincremento/decremento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35331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posición del ++ o -- define cuándo ocurre el cambio en la expresión.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755648"/>
            <a:ext cx="8503920" cy="658368"/>
          </a:xfrm>
          <a:prstGeom prst="rect">
            <a:avLst/>
          </a:prstGeom>
          <a:solidFill>
            <a:srgbClr val="1E3A52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320040" y="1755648"/>
            <a:ext cx="777240" cy="658368"/>
          </a:xfrm>
          <a:prstGeom prst="rect">
            <a:avLst/>
          </a:prstGeom>
          <a:solidFill>
            <a:srgbClr val="4EC9B0"/>
          </a:solidFill>
          <a:ln w="12700">
            <a:solidFill>
              <a:srgbClr val="4EC9B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320040" y="1755648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181965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de asignación compuesta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10312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+= -= *= /= %= son atajos que combinan operación y asignación en un paso.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505456"/>
            <a:ext cx="8503920" cy="658368"/>
          </a:xfrm>
          <a:prstGeom prst="rect">
            <a:avLst/>
          </a:prstGeom>
          <a:solidFill>
            <a:srgbClr val="1E3A52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320040" y="2505456"/>
            <a:ext cx="777240" cy="658368"/>
          </a:xfrm>
          <a:prstGeom prst="rect">
            <a:avLst/>
          </a:prstGeom>
          <a:solidFill>
            <a:srgbClr val="BB86FC"/>
          </a:solidFill>
          <a:ln w="12700">
            <a:solidFill>
              <a:srgbClr val="BB86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320040" y="2505456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256946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rand() genera seudoaleatorios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285292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secuencia depende de la semilla. Sin srand(), siempre la misma.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255264"/>
            <a:ext cx="8503920" cy="658368"/>
          </a:xfrm>
          <a:prstGeom prst="rect">
            <a:avLst/>
          </a:prstGeom>
          <a:solidFill>
            <a:srgbClr val="1E3A52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320040" y="3255264"/>
            <a:ext cx="77724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320040" y="3255264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31927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srand(time(NULL)) → variabilidad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360273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reloj del sistema como semilla garantiza secuencias distintas.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005072"/>
            <a:ext cx="8503920" cy="658368"/>
          </a:xfrm>
          <a:prstGeom prst="rect">
            <a:avLst/>
          </a:prstGeom>
          <a:solidFill>
            <a:srgbClr val="1E3A52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320040" y="4005072"/>
            <a:ext cx="777240" cy="658368"/>
          </a:xfrm>
          <a:prstGeom prst="rect">
            <a:avLst/>
          </a:prstGeom>
          <a:solidFill>
            <a:srgbClr val="4EC9B0"/>
          </a:solidFill>
          <a:ln w="12700">
            <a:solidFill>
              <a:srgbClr val="4EC9B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320040" y="400507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406908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rand() % (max-min+1) + min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435254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generar un entero dentro de cualquier rango específico.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4FD52A83EA6F42B24A8CC4AC0D895F" ma:contentTypeVersion="39" ma:contentTypeDescription="Crear nuevo documento." ma:contentTypeScope="" ma:versionID="a277f4450c5a03301467aa4020cda154">
  <xsd:schema xmlns:xsd="http://www.w3.org/2001/XMLSchema" xmlns:xs="http://www.w3.org/2001/XMLSchema" xmlns:p="http://schemas.microsoft.com/office/2006/metadata/properties" xmlns:ns3="fa31e3e4-dd04-430e-ab11-9f2e36e54c96" xmlns:ns4="dcd687b3-ff2a-4cef-8a8e-ae79212dfc5f" targetNamespace="http://schemas.microsoft.com/office/2006/metadata/properties" ma:root="true" ma:fieldsID="1ee6833715a99533d5fd6dc48745e310" ns3:_="" ns4:_="">
    <xsd:import namespace="fa31e3e4-dd04-430e-ab11-9f2e36e54c96"/>
    <xsd:import namespace="dcd687b3-ff2a-4cef-8a8e-ae79212dfc5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NotebookType" minOccurs="0"/>
                <xsd:element ref="ns4:FolderType" minOccurs="0"/>
                <xsd:element ref="ns4:Owner" minOccurs="0"/>
                <xsd:element ref="ns4:DefaultSectionNames" minOccurs="0"/>
                <xsd:element ref="ns4:Templates" minOccurs="0"/>
                <xsd:element ref="ns4:CultureName" minOccurs="0"/>
                <xsd:element ref="ns4:AppVersion" minOccurs="0"/>
                <xsd:element ref="ns4:Teachers" minOccurs="0"/>
                <xsd:element ref="ns4:Students" minOccurs="0"/>
                <xsd:element ref="ns4:Student_Group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Has_Teacher_Only_SectionGroup" minOccurs="0"/>
                <xsd:element ref="ns4:Is_Collaboration_Space_Locked" minOccurs="0"/>
                <xsd:element ref="ns4:TeamsChannelId" minOccurs="0"/>
                <xsd:element ref="ns4:Math_Settings" minOccurs="0"/>
                <xsd:element ref="ns4:Distribution_Groups" minOccurs="0"/>
                <xsd:element ref="ns4:LMS_Mappings" minOccurs="0"/>
                <xsd:element ref="ns4:IsNotebookLocked" minOccurs="0"/>
                <xsd:element ref="ns4:MediaServiceAutoTags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Teams_Channel_Section_Locatio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31e3e4-dd04-430e-ab11-9f2e36e54c9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687b3-ff2a-4cef-8a8e-ae79212dfc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NotebookType" ma:index="13" nillable="true" ma:displayName="Notebook Type" ma:internalName="NotebookType">
      <xsd:simpleType>
        <xsd:restriction base="dms:Text"/>
      </xsd:simpleType>
    </xsd:element>
    <xsd:element name="FolderType" ma:index="14" nillable="true" ma:displayName="Folder Type" ma:internalName="FolderType">
      <xsd:simpleType>
        <xsd:restriction base="dms:Text"/>
      </xsd:simpleType>
    </xsd:element>
    <xsd:element name="Owner" ma:index="1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7" nillable="true" ma:displayName="Templates" ma:internalName="Templates">
      <xsd:simpleType>
        <xsd:restriction base="dms:Note">
          <xsd:maxLength value="255"/>
        </xsd:restriction>
      </xsd:simpleType>
    </xsd:element>
    <xsd:element name="CultureName" ma:index="18" nillable="true" ma:displayName="Culture Name" ma:internalName="CultureName">
      <xsd:simpleType>
        <xsd:restriction base="dms:Text"/>
      </xsd:simpleType>
    </xsd:element>
    <xsd:element name="AppVersion" ma:index="19" nillable="true" ma:displayName="App Version" ma:internalName="AppVersion">
      <xsd:simpleType>
        <xsd:restriction base="dms:Text"/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2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7" nillable="true" ma:displayName="Is Collaboration Space Locked" ma:internalName="Is_Collaboration_Space_Locked">
      <xsd:simpleType>
        <xsd:restriction base="dms:Boolean"/>
      </xsd:simpleType>
    </xsd:element>
    <xsd:element name="TeamsChannelId" ma:index="28" nillable="true" ma:displayName="Teams Channel Id" ma:internalName="TeamsChannelId">
      <xsd:simpleType>
        <xsd:restriction base="dms:Text"/>
      </xsd:simpleType>
    </xsd:element>
    <xsd:element name="Math_Settings" ma:index="29" nillable="true" ma:displayName="Math Settings" ma:internalName="Math_Settings">
      <xsd:simpleType>
        <xsd:restriction base="dms:Text"/>
      </xsd:simpleType>
    </xsd:element>
    <xsd:element name="Distribution_Groups" ma:index="3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1" nillable="true" ma:displayName="LMS Mappings" ma:internalName="LMS_Mappings">
      <xsd:simpleType>
        <xsd:restriction base="dms:Note">
          <xsd:maxLength value="255"/>
        </xsd:restriction>
      </xsd:simpleType>
    </xsd:element>
    <xsd:element name="IsNotebookLocked" ma:index="32" nillable="true" ma:displayName="Is Notebook Locked" ma:internalName="IsNotebookLocked">
      <xsd:simpleType>
        <xsd:restriction base="dms:Boolean"/>
      </xsd:simpleType>
    </xsd:element>
    <xsd:element name="MediaServiceAutoTags" ma:index="33" nillable="true" ma:displayName="Tags" ma:internalName="MediaServiceAutoTags" ma:readOnly="true">
      <xsd:simpleType>
        <xsd:restriction base="dms:Text"/>
      </xsd:simpleType>
    </xsd:element>
    <xsd:element name="MediaServiceOCR" ma:index="3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3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37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3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40" nillable="true" ma:displayName="Location" ma:internalName="MediaServiceLocation" ma:readOnly="true">
      <xsd:simpleType>
        <xsd:restriction base="dms:Text"/>
      </xsd:simpleType>
    </xsd:element>
    <xsd:element name="Teams_Channel_Section_Location" ma:index="41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43" nillable="true" ma:displayName="_activity" ma:hidden="true" ma:internalName="_activity">
      <xsd:simpleType>
        <xsd:restriction base="dms:Note"/>
      </xsd:simpleType>
    </xsd:element>
    <xsd:element name="MediaServiceObjectDetectorVersions" ma:index="4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4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_Channel_Section_Location xmlns="dcd687b3-ff2a-4cef-8a8e-ae79212dfc5f" xsi:nil="true"/>
    <Templates xmlns="dcd687b3-ff2a-4cef-8a8e-ae79212dfc5f" xsi:nil="true"/>
    <NotebookType xmlns="dcd687b3-ff2a-4cef-8a8e-ae79212dfc5f" xsi:nil="true"/>
    <CultureName xmlns="dcd687b3-ff2a-4cef-8a8e-ae79212dfc5f" xsi:nil="true"/>
    <TeamsChannelId xmlns="dcd687b3-ff2a-4cef-8a8e-ae79212dfc5f" xsi:nil="true"/>
    <_activity xmlns="dcd687b3-ff2a-4cef-8a8e-ae79212dfc5f" xsi:nil="true"/>
    <Owner xmlns="dcd687b3-ff2a-4cef-8a8e-ae79212dfc5f">
      <UserInfo>
        <DisplayName/>
        <AccountId xsi:nil="true"/>
        <AccountType/>
      </UserInfo>
    </Owner>
    <Students xmlns="dcd687b3-ff2a-4cef-8a8e-ae79212dfc5f">
      <UserInfo>
        <DisplayName/>
        <AccountId xsi:nil="true"/>
        <AccountType/>
      </UserInfo>
    </Students>
    <Student_Groups xmlns="dcd687b3-ff2a-4cef-8a8e-ae79212dfc5f">
      <UserInfo>
        <DisplayName/>
        <AccountId xsi:nil="true"/>
        <AccountType/>
      </UserInfo>
    </Student_Groups>
    <Distribution_Groups xmlns="dcd687b3-ff2a-4cef-8a8e-ae79212dfc5f" xsi:nil="true"/>
    <AppVersion xmlns="dcd687b3-ff2a-4cef-8a8e-ae79212dfc5f" xsi:nil="true"/>
    <Invited_Teachers xmlns="dcd687b3-ff2a-4cef-8a8e-ae79212dfc5f" xsi:nil="true"/>
    <LMS_Mappings xmlns="dcd687b3-ff2a-4cef-8a8e-ae79212dfc5f" xsi:nil="true"/>
    <IsNotebookLocked xmlns="dcd687b3-ff2a-4cef-8a8e-ae79212dfc5f" xsi:nil="true"/>
    <DefaultSectionNames xmlns="dcd687b3-ff2a-4cef-8a8e-ae79212dfc5f" xsi:nil="true"/>
    <Math_Settings xmlns="dcd687b3-ff2a-4cef-8a8e-ae79212dfc5f" xsi:nil="true"/>
    <Invited_Students xmlns="dcd687b3-ff2a-4cef-8a8e-ae79212dfc5f" xsi:nil="true"/>
    <Self_Registration_Enabled xmlns="dcd687b3-ff2a-4cef-8a8e-ae79212dfc5f" xsi:nil="true"/>
    <Has_Teacher_Only_SectionGroup xmlns="dcd687b3-ff2a-4cef-8a8e-ae79212dfc5f" xsi:nil="true"/>
    <FolderType xmlns="dcd687b3-ff2a-4cef-8a8e-ae79212dfc5f" xsi:nil="true"/>
    <Is_Collaboration_Space_Locked xmlns="dcd687b3-ff2a-4cef-8a8e-ae79212dfc5f" xsi:nil="true"/>
    <Teachers xmlns="dcd687b3-ff2a-4cef-8a8e-ae79212dfc5f">
      <UserInfo>
        <DisplayName/>
        <AccountId xsi:nil="true"/>
        <AccountType/>
      </UserInfo>
    </Teachers>
  </documentManagement>
</p:properties>
</file>

<file path=customXml/itemProps1.xml><?xml version="1.0" encoding="utf-8"?>
<ds:datastoreItem xmlns:ds="http://schemas.openxmlformats.org/officeDocument/2006/customXml" ds:itemID="{F4B82C3D-5ED3-4125-BCC9-91504F07AD6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53E4D0-60AB-4A95-93A9-112E694842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31e3e4-dd04-430e-ab11-9f2e36e54c96"/>
    <ds:schemaRef ds:uri="dcd687b3-ff2a-4cef-8a8e-ae79212dfc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4B597A-E35A-4697-BE77-B7563BAC5ADD}">
  <ds:schemaRefs>
    <ds:schemaRef ds:uri="http://purl.org/dc/terms/"/>
    <ds:schemaRef ds:uri="http://purl.org/dc/elements/1.1/"/>
    <ds:schemaRef ds:uri="http://purl.org/dc/dcmitype/"/>
    <ds:schemaRef ds:uri="dcd687b3-ff2a-4cef-8a8e-ae79212dfc5f"/>
    <ds:schemaRef ds:uri="fa31e3e4-dd04-430e-ab11-9f2e36e54c96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2170</Words>
  <Application>Microsoft Office PowerPoint</Application>
  <PresentationFormat>Presentación en pantalla (16:9)</PresentationFormat>
  <Paragraphs>395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Operadores de Incremento/Decremento y Números Aleatorios</dc:title>
  <dc:subject>PptxGenJS Presentation</dc:subject>
  <dc:creator>Ing. Alejandro Jorge Behringer / Prof. Juan Capia</dc:creator>
  <cp:lastModifiedBy>Alejandro Behringer</cp:lastModifiedBy>
  <cp:revision>2</cp:revision>
  <dcterms:created xsi:type="dcterms:W3CDTF">2026-05-05T18:29:47Z</dcterms:created>
  <dcterms:modified xsi:type="dcterms:W3CDTF">2026-05-05T20:20:21Z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0x010100674FD52A83EA6F42B24A8CC4AC0D895F</vt:lpwstr>
  </property>
</Properties>
</file>